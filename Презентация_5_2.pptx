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64" r:id="rId13"/>
    <p:sldId id="265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Noto Sans" panose="020B0502040504020204" pitchFamily="34" charset="0"/>
      <p:regular r:id="rId20"/>
      <p:bold r:id="rId21"/>
      <p:italic r:id="rId22"/>
      <p:boldItalic r:id="rId23"/>
    </p:embeddedFont>
    <p:embeddedFont>
      <p:font typeface="Noto Sans Bold" panose="020B0802040504020204" charset="0"/>
      <p:regular r:id="rId24"/>
    </p:embeddedFont>
    <p:embeddedFont>
      <p:font typeface="Noto Sans ExtraBold" panose="020B0604020202020204" charset="0"/>
      <p:regular r:id="rId25"/>
    </p:embeddedFont>
    <p:embeddedFont>
      <p:font typeface="Noto Sans Medium" panose="020B0604020202020204" charset="0"/>
      <p:regular r:id="rId26"/>
    </p:embeddedFont>
    <p:embeddedFont>
      <p:font typeface="Noto Sans SemiBold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A1A"/>
    <a:srgbClr val="FFE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6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EB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7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14403"/>
            <a:ext cx="687310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kern="100" spc="16" dirty="0">
                <a:solidFill>
                  <a:srgbClr val="B34A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Министерство образования и молодежной политики Свердловской области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600" kern="100" spc="16" dirty="0">
                <a:solidFill>
                  <a:srgbClr val="B34A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ГАПОУ СО «Екатеринбургский колледж транспортного строительства»</a:t>
            </a:r>
          </a:p>
        </p:txBody>
      </p:sp>
      <p:sp>
        <p:nvSpPr>
          <p:cNvPr id="3" name="Text 1"/>
          <p:cNvSpPr/>
          <p:nvPr/>
        </p:nvSpPr>
        <p:spPr>
          <a:xfrm>
            <a:off x="558785" y="1304407"/>
            <a:ext cx="8875888" cy="322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5400" kern="100" spc="-64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Разработка мобильного</a:t>
            </a:r>
            <a:r>
              <a:rPr lang="en-US" sz="5400" kern="100" spc="-64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 </a:t>
            </a:r>
            <a:r>
              <a:rPr lang="ru-RU" sz="5400" kern="100" spc="-64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приложения «Кинопоиск»</a:t>
            </a:r>
          </a:p>
        </p:txBody>
      </p:sp>
      <p:sp>
        <p:nvSpPr>
          <p:cNvPr id="5" name="Text 3"/>
          <p:cNvSpPr/>
          <p:nvPr/>
        </p:nvSpPr>
        <p:spPr>
          <a:xfrm>
            <a:off x="558786" y="4488061"/>
            <a:ext cx="6314322" cy="15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Выполнила:</a:t>
            </a:r>
            <a:r>
              <a:rPr lang="en-US" sz="2200" dirty="0">
                <a:solidFill>
                  <a:srgbClr val="17141F"/>
                </a:solidFill>
                <a:latin typeface="Noto Sans" panose="020B0502040504020204" pitchFamily="34" charset="0"/>
                <a:ea typeface="Noto Sans" pitchFamily="34" charset="-122"/>
                <a:cs typeface="Noto Sans" panose="020B0502040504020204" pitchFamily="34" charset="0"/>
              </a:rPr>
              <a:t> </a:t>
            </a:r>
            <a:r>
              <a:rPr lang="ru-RU" sz="2200" dirty="0">
                <a:solidFill>
                  <a:srgbClr val="17141F"/>
                </a:solidFill>
                <a:latin typeface="Noto Sans" panose="020B0502040504020204" pitchFamily="34" charset="0"/>
                <a:ea typeface="Noto Sans" pitchFamily="34" charset="-122"/>
                <a:cs typeface="Noto Sans" panose="020B0502040504020204" pitchFamily="34" charset="0"/>
              </a:rPr>
              <a:t>Ходжаева Ш. З.</a:t>
            </a:r>
            <a:endParaRPr lang="en-US" sz="2200" dirty="0"/>
          </a:p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Группа:</a:t>
            </a:r>
            <a:r>
              <a:rPr lang="en-US" sz="2200" dirty="0">
                <a:solidFill>
                  <a:srgbClr val="17141F"/>
                </a:solidFill>
                <a:latin typeface="Noto Sans" panose="020B0502040504020204" pitchFamily="34" charset="0"/>
                <a:ea typeface="Noto Sans" pitchFamily="34" charset="-122"/>
                <a:cs typeface="Noto Sans" panose="020B0502040504020204" pitchFamily="34" charset="0"/>
              </a:rPr>
              <a:t> </a:t>
            </a:r>
            <a:r>
              <a:rPr lang="ru-RU" sz="2200" dirty="0">
                <a:solidFill>
                  <a:srgbClr val="17141F"/>
                </a:solidFill>
                <a:latin typeface="Noto Sans" panose="020B0502040504020204" pitchFamily="34" charset="0"/>
                <a:ea typeface="Noto Sans" pitchFamily="34" charset="-122"/>
                <a:cs typeface="Noto Sans" panose="020B0502040504020204" pitchFamily="34" charset="0"/>
              </a:rPr>
              <a:t>ПР-31</a:t>
            </a:r>
            <a:endParaRPr lang="en-US" sz="2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Преподаватель:</a:t>
            </a:r>
            <a:r>
              <a:rPr lang="en-US" sz="2200" dirty="0">
                <a:solidFill>
                  <a:srgbClr val="17141F"/>
                </a:solidFill>
                <a:latin typeface="Noto Sans" panose="020B0502040504020204" pitchFamily="34" charset="0"/>
                <a:ea typeface="Noto Sans" pitchFamily="34" charset="-122"/>
                <a:cs typeface="Noto Sans" panose="020B0502040504020204" pitchFamily="34" charset="0"/>
              </a:rPr>
              <a:t> </a:t>
            </a:r>
            <a:r>
              <a:rPr lang="ru-RU" sz="2200" dirty="0">
                <a:solidFill>
                  <a:srgbClr val="17141F"/>
                </a:solidFill>
                <a:latin typeface="Noto Sans" panose="020B0502040504020204" pitchFamily="34" charset="0"/>
                <a:ea typeface="Noto Sans" pitchFamily="34" charset="-122"/>
                <a:cs typeface="Noto Sans" panose="020B0502040504020204" pitchFamily="34" charset="0"/>
              </a:rPr>
              <a:t>Мирошниченко Г.В.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823" y="1857970"/>
            <a:ext cx="2666933" cy="266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34673" y="4718963"/>
            <a:ext cx="18209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Кинопоиск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AE0696-95EC-411E-86C6-0F96C891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86" y="1255713"/>
            <a:ext cx="9338249" cy="4590951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E975578A-253F-4ED7-A455-5E70FD5F1B74}"/>
              </a:ext>
            </a:extLst>
          </p:cNvPr>
          <p:cNvSpPr/>
          <p:nvPr/>
        </p:nvSpPr>
        <p:spPr>
          <a:xfrm>
            <a:off x="908410" y="1716089"/>
            <a:ext cx="8888506" cy="3425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«Кинопоиск» – это мобильное приложение для поиска информации о фильмах, просмотра детальных описаний и сохранения понравившихся картин в личный список «Избранное». Приложение использует открытый API для получения актуальных данных и локальную базу для офлайн-хранения</a:t>
            </a:r>
            <a:endParaRPr lang="en-US" sz="28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160FBA03-5E67-42AF-A264-89FC0E0449F8}"/>
              </a:ext>
            </a:extLst>
          </p:cNvPr>
          <p:cNvSpPr/>
          <p:nvPr/>
        </p:nvSpPr>
        <p:spPr>
          <a:xfrm>
            <a:off x="558786" y="606293"/>
            <a:ext cx="11074123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О разработке</a:t>
            </a:r>
            <a:endParaRPr lang="en-US" sz="36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ADACC11-BA1C-42A4-963F-991CB1B5A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342" y="3863807"/>
            <a:ext cx="2556144" cy="25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3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6293"/>
            <a:ext cx="11074123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Цель и задачи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58786" y="1255713"/>
            <a:ext cx="4307772" cy="4590951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38179" y="2263239"/>
            <a:ext cx="402837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6" dirty="0">
                <a:solidFill>
                  <a:srgbClr val="17141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ЦЕЛЬ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8179" y="2598460"/>
            <a:ext cx="3748986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Разработать Android-приложение на Kotlin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8179" y="4134021"/>
            <a:ext cx="3748986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Для поиска фильмов и сохранения избранных.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171251" y="1496886"/>
            <a:ext cx="6461658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Задачи: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171251" y="1980109"/>
            <a:ext cx="488938" cy="488950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347757" y="2105819"/>
            <a:ext cx="74541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7141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939582" y="2035842"/>
            <a:ext cx="5693327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Реализовать авторизацию пользователя.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71251" y="2621459"/>
            <a:ext cx="488938" cy="488950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347757" y="2747169"/>
            <a:ext cx="74541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7141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939582" y="2677192"/>
            <a:ext cx="5693327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Настроить сетевые запросы к API Кинопоиска.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71251" y="3554611"/>
            <a:ext cx="488938" cy="488950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47757" y="3680321"/>
            <a:ext cx="74541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7141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939582" y="3610344"/>
            <a:ext cx="5693327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Реализовать парсинг JSON-ответа.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71251" y="4195961"/>
            <a:ext cx="488938" cy="488950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347757" y="4321671"/>
            <a:ext cx="74541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7141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4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5939582" y="4251694"/>
            <a:ext cx="5693327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Сделать сохранение избранных фильмов в память телефона (через Room).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71251" y="5129113"/>
            <a:ext cx="488938" cy="488950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347757" y="5254823"/>
            <a:ext cx="74541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7141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5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5939582" y="5184846"/>
            <a:ext cx="5693327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Создать современный интерфейс.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4BB7AC-0D76-4BB6-B2C8-62776EFF54CF}"/>
              </a:ext>
            </a:extLst>
          </p:cNvPr>
          <p:cNvSpPr/>
          <p:nvPr/>
        </p:nvSpPr>
        <p:spPr>
          <a:xfrm>
            <a:off x="558786" y="606293"/>
            <a:ext cx="11074123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Принципы построения интерфейса</a:t>
            </a:r>
            <a:endParaRPr lang="en-US" sz="3600" dirty="0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32280736-C55B-415B-BE6C-9220EFA071A7}"/>
              </a:ext>
            </a:extLst>
          </p:cNvPr>
          <p:cNvSpPr/>
          <p:nvPr/>
        </p:nvSpPr>
        <p:spPr>
          <a:xfrm>
            <a:off x="558786" y="1735150"/>
            <a:ext cx="488938" cy="488950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45E93F8F-F9D5-4BA8-A7EB-EB71568C8CA0}"/>
              </a:ext>
            </a:extLst>
          </p:cNvPr>
          <p:cNvSpPr/>
          <p:nvPr/>
        </p:nvSpPr>
        <p:spPr>
          <a:xfrm>
            <a:off x="735292" y="1860860"/>
            <a:ext cx="74541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1850" dirty="0">
                <a:solidFill>
                  <a:srgbClr val="17141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</a:t>
            </a:r>
            <a:endParaRPr lang="en-US" sz="185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326FA63B-1AA3-4261-A633-2A4A087BCF12}"/>
              </a:ext>
            </a:extLst>
          </p:cNvPr>
          <p:cNvSpPr/>
          <p:nvPr/>
        </p:nvSpPr>
        <p:spPr>
          <a:xfrm>
            <a:off x="1327117" y="1790883"/>
            <a:ext cx="7198318" cy="1167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Привлекательность: Единый цветовой стиль (белый фон + оранжевые акценты), карточная верстка.</a:t>
            </a:r>
            <a:endParaRPr lang="en-US" sz="2200" dirty="0"/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9D3DCCF4-922D-48EB-8BC9-41DDA30ACAC8}"/>
              </a:ext>
            </a:extLst>
          </p:cNvPr>
          <p:cNvSpPr/>
          <p:nvPr/>
        </p:nvSpPr>
        <p:spPr>
          <a:xfrm>
            <a:off x="558786" y="3163619"/>
            <a:ext cx="488938" cy="488950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D0AB14B8-0E18-4EB3-8E55-F0535C0B739A}"/>
              </a:ext>
            </a:extLst>
          </p:cNvPr>
          <p:cNvSpPr/>
          <p:nvPr/>
        </p:nvSpPr>
        <p:spPr>
          <a:xfrm>
            <a:off x="735292" y="3289329"/>
            <a:ext cx="74541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1850" dirty="0">
                <a:solidFill>
                  <a:srgbClr val="17141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2</a:t>
            </a:r>
            <a:endParaRPr lang="en-US" sz="185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3AB213AB-0CBE-41C0-B41D-5E119363B2F8}"/>
              </a:ext>
            </a:extLst>
          </p:cNvPr>
          <p:cNvSpPr/>
          <p:nvPr/>
        </p:nvSpPr>
        <p:spPr>
          <a:xfrm>
            <a:off x="1327117" y="3219352"/>
            <a:ext cx="7198318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Лаконичность: Отсутствие перегруженности, крупные читаемые шрифты и отступы.</a:t>
            </a:r>
            <a:endParaRPr lang="en-US" sz="22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7B1E376C-C97F-4B1A-8740-94785C40C47A}"/>
              </a:ext>
            </a:extLst>
          </p:cNvPr>
          <p:cNvSpPr/>
          <p:nvPr/>
        </p:nvSpPr>
        <p:spPr>
          <a:xfrm>
            <a:off x="558786" y="4418979"/>
            <a:ext cx="488938" cy="488950"/>
          </a:xfrm>
          <a:prstGeom prst="ellipse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10969B9E-C6B6-42C9-BB3F-94E87EA0E534}"/>
              </a:ext>
            </a:extLst>
          </p:cNvPr>
          <p:cNvSpPr/>
          <p:nvPr/>
        </p:nvSpPr>
        <p:spPr>
          <a:xfrm>
            <a:off x="735292" y="4544689"/>
            <a:ext cx="74541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1850" dirty="0"/>
              <a:t>3</a:t>
            </a:r>
            <a:endParaRPr lang="en-US" sz="185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990E5AEE-ED1A-41C3-8E30-7D9CE5E0D5F8}"/>
              </a:ext>
            </a:extLst>
          </p:cNvPr>
          <p:cNvSpPr/>
          <p:nvPr/>
        </p:nvSpPr>
        <p:spPr>
          <a:xfrm>
            <a:off x="1327117" y="4474711"/>
            <a:ext cx="7198318" cy="114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Удобство: Кнопки сохранения закреплены внизу экрана, автоматическое обновление списка избранного.</a:t>
            </a:r>
            <a:endParaRPr lang="en-US" sz="22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6DEEBBB-A745-432A-8A49-1F7EDFBDC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635" y="1194470"/>
            <a:ext cx="1807840" cy="180784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6623291-3573-4978-9397-0E026DA1B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961" y="2702847"/>
            <a:ext cx="1452306" cy="145230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FEEA99A-F646-4499-8E26-CF758B5AD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402" y="4181776"/>
            <a:ext cx="1452306" cy="145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9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6293"/>
            <a:ext cx="11074123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Используемые инструменты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58786" y="1271588"/>
            <a:ext cx="11074123" cy="546596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6582" y="1373061"/>
            <a:ext cx="10718532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Kotlin</a:t>
            </a: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— основной язык.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58786" y="1970584"/>
            <a:ext cx="11074123" cy="915392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6582" y="2072057"/>
            <a:ext cx="10718532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Volley</a:t>
            </a: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(com.android.volley:volley): асинхронные HTTP-запросы, GET-запросы к серверу.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58786" y="3038376"/>
            <a:ext cx="11074123" cy="546596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6582" y="3139849"/>
            <a:ext cx="10718532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Gson</a:t>
            </a: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(com.google.code.gson:gson): превращает JSON-ответ в объекты Kotlin.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58786" y="3737372"/>
            <a:ext cx="11074123" cy="915392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6582" y="3838845"/>
            <a:ext cx="10718532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Room</a:t>
            </a: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(androidx.room:room-runtime): локальная база SQLite для избранных фильмов.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58786" y="4805164"/>
            <a:ext cx="11074123" cy="915392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6582" y="4906637"/>
            <a:ext cx="10718532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Coroutines &amp; Flow</a:t>
            </a: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: фоновые задачи без зависания интерфейса и </a:t>
            </a:r>
            <a:r>
              <a:rPr lang="ru-RU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автоматическое обновление списков</a:t>
            </a: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6293"/>
            <a:ext cx="11074123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Работа с API Кинопоиска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58786" y="1500188"/>
            <a:ext cx="110358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2043609"/>
            <a:ext cx="3488146" cy="25400"/>
          </a:xfrm>
          <a:prstGeom prst="rect">
            <a:avLst/>
          </a:prstGeom>
          <a:solidFill>
            <a:srgbClr val="1714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58786" y="2167850"/>
            <a:ext cx="3488146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Запрос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8786" y="2778891"/>
            <a:ext cx="3488146" cy="1106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Сервис poiskkino.dev. API-ключ передаётся в заголовке X-API-KEY.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51725" y="1500188"/>
            <a:ext cx="110358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02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351725" y="2043609"/>
            <a:ext cx="3488146" cy="25400"/>
          </a:xfrm>
          <a:prstGeom prst="rect">
            <a:avLst/>
          </a:prstGeom>
          <a:solidFill>
            <a:srgbClr val="1714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51725" y="2167850"/>
            <a:ext cx="3488146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Поиск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51725" y="2778891"/>
            <a:ext cx="3488146" cy="147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Кириллица кодируется через URLEncoder для корректной передачи в URL.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44663" y="1500188"/>
            <a:ext cx="110358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17141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03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8144663" y="2043609"/>
            <a:ext cx="3488146" cy="25400"/>
          </a:xfrm>
          <a:prstGeom prst="rect">
            <a:avLst/>
          </a:prstGeom>
          <a:solidFill>
            <a:srgbClr val="1714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44663" y="2167850"/>
            <a:ext cx="3488246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Ответ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44663" y="2778891"/>
            <a:ext cx="3488246" cy="147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Формат JSON. Массив docs содержит название, год, описание, рейтинг, жанры и страны.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58786" y="4346301"/>
            <a:ext cx="7281085" cy="2359196"/>
          </a:xfrm>
          <a:prstGeom prst="rect">
            <a:avLst/>
          </a:prstGeom>
          <a:noFill/>
          <a:ln w="12700">
            <a:solidFill>
              <a:srgbClr val="A88B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821914" y="4900335"/>
            <a:ext cx="281099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5A5163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Пример ответа API в формате JSON</a:t>
            </a:r>
            <a:endParaRPr lang="en-US" sz="18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D75C942-7F9A-B5D4-BB01-20AE58740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755" y="4377545"/>
            <a:ext cx="4924474" cy="2296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6293"/>
            <a:ext cx="5923211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Экран авторизации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58786" y="1294130"/>
            <a:ext cx="5923211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SharedPreferences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8786" y="1905171"/>
            <a:ext cx="5923211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Хранилище «ключ-значение».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58786" y="2436336"/>
            <a:ext cx="5923211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Первый вход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8786" y="3047377"/>
            <a:ext cx="5923211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Логин и пароль сохраняются на устройстве.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8786" y="3947339"/>
            <a:ext cx="5923211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Повторный запуск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58786" y="4558379"/>
            <a:ext cx="5923211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Данные сверяются, после чего пользователь переходит к поиску.</a:t>
            </a:r>
            <a:endParaRPr lang="en-US" sz="22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50A5CA5-15A8-7012-8A6B-4CA132219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459" y="176954"/>
            <a:ext cx="2963403" cy="6504092"/>
          </a:xfrm>
          <a:prstGeom prst="roundRect">
            <a:avLst>
              <a:gd name="adj" fmla="val 11886"/>
            </a:avLst>
          </a:prstGeom>
        </p:spPr>
      </p:pic>
      <p:sp>
        <p:nvSpPr>
          <p:cNvPr id="11" name="Shape 2">
            <a:extLst>
              <a:ext uri="{FF2B5EF4-FFF2-40B4-BE49-F238E27FC236}">
                <a16:creationId xmlns:a16="http://schemas.microsoft.com/office/drawing/2014/main" id="{DEFCD735-1B02-4CDC-B591-BABA28BFB967}"/>
              </a:ext>
            </a:extLst>
          </p:cNvPr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noFill/>
          <a:ln w="12700">
            <a:solidFill>
              <a:srgbClr val="A88B7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6293"/>
            <a:ext cx="5791055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Экран поиска и сетевой запрос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58786" y="1749425"/>
            <a:ext cx="5791055" cy="434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Пользователь вводит название фильма.</a:t>
            </a:r>
            <a:endParaRPr lang="en-US" sz="2800" dirty="0"/>
          </a:p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Приложение отправляет GET-запрос через Volley.</a:t>
            </a:r>
            <a:endParaRPr lang="en-US" sz="2800" dirty="0"/>
          </a:p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Gson автоматически превращает ответ сервера в удобный список фильмов.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 ошибке показывается Toast.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noFill/>
          <a:ln w="12700">
            <a:solidFill>
              <a:srgbClr val="A88B7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6E6333-98A1-2F25-142A-CD1ED0677B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7"/>
          <a:stretch>
            <a:fillRect/>
          </a:stretch>
        </p:blipFill>
        <p:spPr>
          <a:xfrm>
            <a:off x="8053914" y="199602"/>
            <a:ext cx="2992493" cy="6458796"/>
          </a:xfrm>
          <a:prstGeom prst="roundRect">
            <a:avLst>
              <a:gd name="adj" fmla="val 9320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6293"/>
            <a:ext cx="5791055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Экран деталей и сохранение в базу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58786" y="1743075"/>
            <a:ext cx="5791055" cy="481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Экран показывает данные фильма.</a:t>
            </a:r>
            <a:endParaRPr lang="en-US" sz="2800" dirty="0"/>
          </a:p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Пользователь добавляет заметку и нажимает «Сохранить».</a:t>
            </a:r>
            <a:endParaRPr lang="en-US" sz="2800" dirty="0"/>
          </a:p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Room сохраняет данные в фоновом потоке.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Сложные данные (жанры, рейтинг) конвертируются в обычный текст для базы.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noFill/>
          <a:ln w="12700">
            <a:solidFill>
              <a:srgbClr val="A88B7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B5ED2F-CE9E-7DED-C040-423CBDD3B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220" y="176954"/>
            <a:ext cx="2991882" cy="6504092"/>
          </a:xfrm>
          <a:prstGeom prst="roundRect">
            <a:avLst>
              <a:gd name="adj" fmla="val 10360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6293"/>
            <a:ext cx="5791055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Экран «Избранное» и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58786" y="1749425"/>
            <a:ext cx="5791055" cy="320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Room передаёт сохранённые фильмы через Flow.</a:t>
            </a:r>
            <a:endParaRPr lang="en-US" sz="2800" dirty="0"/>
          </a:p>
          <a:p>
            <a:pPr marL="0" indent="0" algn="l">
              <a:lnSpc>
                <a:spcPct val="11000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Список обновляется автоматически.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Удалённый фильм сразу исчезает без перезапуска.</a:t>
            </a:r>
            <a:endParaRPr lang="en-US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348DB52-38D5-B923-8343-0EDA1B64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220" y="176954"/>
            <a:ext cx="2991882" cy="6504092"/>
          </a:xfrm>
          <a:prstGeom prst="roundRect">
            <a:avLst>
              <a:gd name="adj" fmla="val 10360"/>
            </a:avLst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CF214DDC-1F91-4F3B-AD9A-55880FA8292F}"/>
              </a:ext>
            </a:extLst>
          </p:cNvPr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noFill/>
          <a:ln w="12700">
            <a:solidFill>
              <a:srgbClr val="A88B7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id="{90EDFE56-3119-4A72-B416-8B7FD0B4AE97}"/>
              </a:ext>
            </a:extLst>
          </p:cNvPr>
          <p:cNvSpPr/>
          <p:nvPr/>
        </p:nvSpPr>
        <p:spPr>
          <a:xfrm>
            <a:off x="558939" y="2545134"/>
            <a:ext cx="8316424" cy="546596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7CE0EFEA-C68B-4BD0-B000-2888C61248DF}"/>
              </a:ext>
            </a:extLst>
          </p:cNvPr>
          <p:cNvSpPr/>
          <p:nvPr/>
        </p:nvSpPr>
        <p:spPr>
          <a:xfrm>
            <a:off x="736581" y="2398141"/>
            <a:ext cx="8316425" cy="546596"/>
          </a:xfrm>
          <a:prstGeom prst="rect">
            <a:avLst/>
          </a:prstGeom>
          <a:solidFill>
            <a:srgbClr val="FFEBD6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94862FEB-BAFD-4F36-9376-566C22DB8A5B}"/>
              </a:ext>
            </a:extLst>
          </p:cNvPr>
          <p:cNvSpPr/>
          <p:nvPr/>
        </p:nvSpPr>
        <p:spPr>
          <a:xfrm>
            <a:off x="558634" y="1568047"/>
            <a:ext cx="8316272" cy="546596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E64FA35-651E-4E5F-82B1-6B98A57E21E8}"/>
              </a:ext>
            </a:extLst>
          </p:cNvPr>
          <p:cNvSpPr/>
          <p:nvPr/>
        </p:nvSpPr>
        <p:spPr>
          <a:xfrm>
            <a:off x="558786" y="606293"/>
            <a:ext cx="11074123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Перспективы разработки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EE3F27-0F3A-4A22-AB61-3CBA5ED5BD40}"/>
              </a:ext>
            </a:extLst>
          </p:cNvPr>
          <p:cNvSpPr/>
          <p:nvPr/>
        </p:nvSpPr>
        <p:spPr>
          <a:xfrm>
            <a:off x="736278" y="1421054"/>
            <a:ext cx="8316272" cy="546596"/>
          </a:xfrm>
          <a:prstGeom prst="rect">
            <a:avLst/>
          </a:prstGeom>
          <a:solidFill>
            <a:srgbClr val="FFEBD6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DD3EF5-0C1B-4835-B9ED-724FF1E7DA29}"/>
              </a:ext>
            </a:extLst>
          </p:cNvPr>
          <p:cNvSpPr/>
          <p:nvPr/>
        </p:nvSpPr>
        <p:spPr>
          <a:xfrm>
            <a:off x="914073" y="1522527"/>
            <a:ext cx="7960680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2200" dirty="0">
                <a:solidFill>
                  <a:srgbClr val="1714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Добавление фильтров по жанрам и годам.</a:t>
            </a:r>
            <a:endParaRPr lang="en-US" sz="22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C4FDB9CB-9774-4F03-9842-51E53D6E5F1E}"/>
              </a:ext>
            </a:extLst>
          </p:cNvPr>
          <p:cNvSpPr/>
          <p:nvPr/>
        </p:nvSpPr>
        <p:spPr>
          <a:xfrm>
            <a:off x="558481" y="3554908"/>
            <a:ext cx="8316425" cy="546596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71699F6-FA7F-4F75-994A-9BDB9672C2A8}"/>
              </a:ext>
            </a:extLst>
          </p:cNvPr>
          <p:cNvSpPr/>
          <p:nvPr/>
        </p:nvSpPr>
        <p:spPr>
          <a:xfrm>
            <a:off x="914529" y="2485141"/>
            <a:ext cx="7960834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2200" dirty="0">
                <a:solidFill>
                  <a:srgbClr val="1714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Синхронизация избранного с облаком.</a:t>
            </a:r>
            <a:endParaRPr lang="en-US" sz="22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2C150A3A-D711-4D94-82A6-872736B7BB95}"/>
              </a:ext>
            </a:extLst>
          </p:cNvPr>
          <p:cNvSpPr/>
          <p:nvPr/>
        </p:nvSpPr>
        <p:spPr>
          <a:xfrm>
            <a:off x="558481" y="4490671"/>
            <a:ext cx="8316272" cy="546596"/>
          </a:xfrm>
          <a:prstGeom prst="rect">
            <a:avLst/>
          </a:prstGeom>
          <a:solidFill>
            <a:srgbClr val="FF7A1A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A67CBB81-2629-4F28-A433-3A0842D65682}"/>
              </a:ext>
            </a:extLst>
          </p:cNvPr>
          <p:cNvSpPr/>
          <p:nvPr/>
        </p:nvSpPr>
        <p:spPr>
          <a:xfrm>
            <a:off x="736276" y="3412752"/>
            <a:ext cx="8316273" cy="546596"/>
          </a:xfrm>
          <a:prstGeom prst="rect">
            <a:avLst/>
          </a:prstGeom>
          <a:solidFill>
            <a:srgbClr val="FFEBD6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D6AEE07-5E04-4D1F-B2BC-883D92ADD710}"/>
              </a:ext>
            </a:extLst>
          </p:cNvPr>
          <p:cNvSpPr/>
          <p:nvPr/>
        </p:nvSpPr>
        <p:spPr>
          <a:xfrm>
            <a:off x="914072" y="3514225"/>
            <a:ext cx="7961291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2200" dirty="0">
                <a:solidFill>
                  <a:srgbClr val="1714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Добавление авторизации через реальный сервер.</a:t>
            </a:r>
            <a:endParaRPr lang="en-US" sz="22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978D4CC4-6821-4896-8E8E-6648A5F54BCD}"/>
              </a:ext>
            </a:extLst>
          </p:cNvPr>
          <p:cNvSpPr/>
          <p:nvPr/>
        </p:nvSpPr>
        <p:spPr>
          <a:xfrm>
            <a:off x="736123" y="4348515"/>
            <a:ext cx="8316273" cy="546596"/>
          </a:xfrm>
          <a:prstGeom prst="rect">
            <a:avLst/>
          </a:prstGeom>
          <a:solidFill>
            <a:srgbClr val="FFEBD6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A021F66A-ED76-49A9-B5C4-9B88FE9664A6}"/>
              </a:ext>
            </a:extLst>
          </p:cNvPr>
          <p:cNvSpPr/>
          <p:nvPr/>
        </p:nvSpPr>
        <p:spPr>
          <a:xfrm>
            <a:off x="913919" y="4449988"/>
            <a:ext cx="7961444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2200" dirty="0">
                <a:solidFill>
                  <a:srgbClr val="1714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Оптимизация кэширования картинок.</a:t>
            </a:r>
            <a:endParaRPr lang="en-US" sz="22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17C1AAF-4F3D-4EAD-A210-D564D7306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803" y="5389235"/>
            <a:ext cx="1225668" cy="122566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97580C0-36F0-4F94-BFB4-E95FE5C14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015" y="5426434"/>
            <a:ext cx="1225668" cy="122566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3B62E48-F609-4866-A4BE-BF781BC79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19" y="5502927"/>
            <a:ext cx="1111976" cy="111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4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606293"/>
            <a:ext cx="11074123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3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Итоги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58786" y="2030909"/>
            <a:ext cx="3488146" cy="3289995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2284909"/>
            <a:ext cx="558786" cy="55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80" y="2993251"/>
            <a:ext cx="2980159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Приложение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12780" y="3604292"/>
            <a:ext cx="2980159" cy="147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Авторизация, поиск, парсинг, отображение и сохранение фильмов.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351725" y="2030909"/>
            <a:ext cx="3488146" cy="3289995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718" y="2284909"/>
            <a:ext cx="558786" cy="55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05718" y="2993251"/>
            <a:ext cx="2980159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Данные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4605718" y="3604292"/>
            <a:ext cx="2980159" cy="1106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Сеть передаёт данные, Gson разбирает ответ.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8144663" y="2030909"/>
            <a:ext cx="3488246" cy="3289995"/>
          </a:xfrm>
          <a:prstGeom prst="rect">
            <a:avLst/>
          </a:prstGeom>
          <a:solidFill>
            <a:srgbClr val="FFEBD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657" y="2284909"/>
            <a:ext cx="558786" cy="558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98657" y="2993251"/>
            <a:ext cx="2980258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7141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Хранение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8398657" y="3604292"/>
            <a:ext cx="2980258" cy="1106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Room хранит результат, </a:t>
            </a:r>
            <a:r>
              <a:rPr lang="ru-RU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а</a:t>
            </a:r>
            <a:r>
              <a:rPr lang="en-US" sz="2200" dirty="0">
                <a:solidFill>
                  <a:srgbClr val="17141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Flow обновляет экран.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315579"/>
            <a:ext cx="11074123" cy="2535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9600" kern="100" spc="-96" dirty="0">
                <a:solidFill>
                  <a:srgbClr val="17141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Спасибо за внимание!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496</Words>
  <Application>Microsoft Office PowerPoint</Application>
  <PresentationFormat>Широкоэкранный</PresentationFormat>
  <Paragraphs>92</Paragraphs>
  <Slides>13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Noto Sans</vt:lpstr>
      <vt:lpstr>Arial</vt:lpstr>
      <vt:lpstr>Noto Sans ExtraBold</vt:lpstr>
      <vt:lpstr>Noto Sans Medium</vt:lpstr>
      <vt:lpstr>Noto Sans SemiBold</vt:lpstr>
      <vt:lpstr>Calibri</vt:lpstr>
      <vt:lpstr>Noto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Александр Руколеев</cp:lastModifiedBy>
  <cp:revision>16</cp:revision>
  <dcterms:created xsi:type="dcterms:W3CDTF">2026-10-25T21:27:43Z</dcterms:created>
  <dcterms:modified xsi:type="dcterms:W3CDTF">2026-10-26T12:14:52Z</dcterms:modified>
</cp:coreProperties>
</file>